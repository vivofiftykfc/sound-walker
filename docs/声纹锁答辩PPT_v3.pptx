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1614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7400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0" y="4572000"/>
            <a:ext cx="4114800" cy="411480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459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基于ARM嵌入式的离线声纹识别系统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soundwalker：嵌入式声纹锁的设计与双路线实现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3383280"/>
            <a:ext cx="2720926" cy="365760"/>
          </a:xfrm>
          <a:prstGeom prst="roundRect">
            <a:avLst>
              <a:gd name="adj" fmla="val 12500"/>
            </a:avLst>
          </a:prstGeom>
          <a:solidFill>
            <a:srgbClr val="2563EB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383280"/>
            <a:ext cx="27209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100" dirty="0">
                <a:solidFill>
                  <a:srgbClr val="93C5FD"/>
                </a:solidFill>
                <a:latin typeface="Arial" pitchFamily="34" charset="0"/>
                <a:cs typeface="Arial" pitchFamily="34" charset="-120"/>
              </a:rPr>
              <a:t>汇报人：宋品豪、张振哲、张恒玮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5669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2026年6月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05840" y="274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项目背景与技术路线总览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54864" cy="21945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005840"/>
            <a:ext cx="502920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097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实验核心要求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1508760"/>
            <a:ext cx="4389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ARM嵌入式Linux平台离线声纹注册与识别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核心算法必须在嵌入式平台本地完成，不可调用在线API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匹配成功模拟解锁操作，失败给出提示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563EB"/>
                </a:solidFill>
              </a:rPr>
              <a:t>涉及：语音信号采集 → 预处理 → 特征提取 → 模式匹配 → 输出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005840"/>
            <a:ext cx="54864" cy="21945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Shape 7"/>
          <p:cNvSpPr/>
          <p:nvPr/>
        </p:nvSpPr>
        <p:spPr>
          <a:xfrm>
            <a:off x="6309360" y="1005840"/>
            <a:ext cx="539496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0" y="1097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三条技术路线调研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583680" y="1554480"/>
            <a:ext cx="4754880" cy="41148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15544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路线①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178040" y="15544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MFCC + DTW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686800" y="15544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手工特征 + 时序对齐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332720" y="155448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≈85-92%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83680" y="2057400"/>
            <a:ext cx="4754880" cy="41148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7" name="Text 15"/>
          <p:cNvSpPr/>
          <p:nvPr/>
        </p:nvSpPr>
        <p:spPr>
          <a:xfrm>
            <a:off x="6675120" y="20574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路线②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178040" y="20574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GMM + SVM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86800" y="20574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概率建模 + 判别分类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332720" y="20574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≈90-95%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583680" y="2560320"/>
            <a:ext cx="4754880" cy="41148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25603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路线③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178040" y="25603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Embedding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686800" y="25603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神经网络自动学习特征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332720" y="25603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≈97%+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3474720"/>
            <a:ext cx="54864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Shape 25"/>
          <p:cNvSpPr/>
          <p:nvPr/>
        </p:nvSpPr>
        <p:spPr>
          <a:xfrm>
            <a:off x="640080" y="3474720"/>
            <a:ext cx="1106424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14400" y="3566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开发路径：调研 → PC原型对比 → 嵌入式实现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14400" y="3931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在PC上使用同一数据集、同一指标对比三条路线 → 用数据决定嵌入式实现方案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4663440"/>
            <a:ext cx="54864" cy="1645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1" name="Shape 29"/>
          <p:cNvSpPr/>
          <p:nvPr/>
        </p:nvSpPr>
        <p:spPr>
          <a:xfrm>
            <a:off x="640080" y="4663440"/>
            <a:ext cx="110642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144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课题涉及的技术领域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22960" y="5212080"/>
            <a:ext cx="2651760" cy="9144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4" name="Text 32"/>
          <p:cNvSpPr/>
          <p:nvPr/>
        </p:nvSpPr>
        <p:spPr>
          <a:xfrm>
            <a:off x="914400" y="5212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语音信号采集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14400" y="54864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ALSA驱动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USB麦克风驱动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44100Hz采样率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57600" y="5212080"/>
            <a:ext cx="2651760" cy="9144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7" name="Text 35"/>
          <p:cNvSpPr/>
          <p:nvPr/>
        </p:nvSpPr>
        <p:spPr>
          <a:xfrm>
            <a:off x="3749040" y="5212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信号预处理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749040" y="54864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降采样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端点检测(VAD)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预加重滤波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492240" y="5212080"/>
            <a:ext cx="2651760" cy="9144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0" name="Text 38"/>
          <p:cNvSpPr/>
          <p:nvPr/>
        </p:nvSpPr>
        <p:spPr>
          <a:xfrm>
            <a:off x="6583680" y="5212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语音特征提取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583680" y="54864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MFCC / FBank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Mel尺度变换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DCT去相关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9326880" y="5212080"/>
            <a:ext cx="2651760" cy="91440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43" name="Text 41"/>
          <p:cNvSpPr/>
          <p:nvPr/>
        </p:nvSpPr>
        <p:spPr>
          <a:xfrm>
            <a:off x="9418320" y="5212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模式识别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418320" y="54864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DTW动态时间规整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余弦相似度度量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神经网络嵌入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05840" y="274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PC端快速原型实验——为什么要先做PC对比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54864" cy="166702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005840"/>
            <a:ext cx="5029200" cy="166702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338189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嵌入式开发成本高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交叉编译、部署、调试周期长。必须在PC上先验证算法有效性，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用数据说话，再决定嵌入式实现哪条路线。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005840"/>
            <a:ext cx="54864" cy="166702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Shape 6"/>
          <p:cNvSpPr/>
          <p:nvPr/>
        </p:nvSpPr>
        <p:spPr>
          <a:xfrm>
            <a:off x="6309360" y="1005840"/>
            <a:ext cx="5394960" cy="166702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097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实验配置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0" y="14630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数据集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498080" y="1463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LibriSpeech dev-clean (10人, 每人8-11条)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83680" y="17373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采样率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498080" y="17373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16kHz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83680" y="20116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MFCC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498080" y="20116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13维, 40个Mel滤波器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83680" y="22860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帧参数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498080" y="22860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25ms帧长, 10ms帧移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83680" y="2964763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注册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498080" y="2964763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3条语音/人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2964763"/>
            <a:ext cx="54864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2964763"/>
            <a:ext cx="1106424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14400" y="2964763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MFCC + DTW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560320" y="2964763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传统方法：提取MFCC帧序列，DTW对齐后计算距离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0" y="2964763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纯Python，librosa MFCC + 手写DTW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3559123"/>
            <a:ext cx="54864" cy="5029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6" name="Shape 24"/>
          <p:cNvSpPr/>
          <p:nvPr/>
        </p:nvSpPr>
        <p:spPr>
          <a:xfrm>
            <a:off x="640080" y="3559123"/>
            <a:ext cx="1106424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14400" y="3559123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GMM + SVM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560320" y="3559123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统计学习：UBM通用背景模型 + SVM超平面分类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772400" y="3559123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sklearn GaussianMixture + SVC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4153483"/>
            <a:ext cx="54864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1" name="Shape 29"/>
          <p:cNvSpPr/>
          <p:nvPr/>
        </p:nvSpPr>
        <p:spPr>
          <a:xfrm>
            <a:off x="640080" y="4153483"/>
            <a:ext cx="1106424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14400" y="4153483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Embedding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560320" y="4153483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深度学习：预训练模型提取256维说话人嵌入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772400" y="4153483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Resemblyzer VoiceEncoder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8640" y="4885003"/>
            <a:ext cx="54864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6" name="Shape 34"/>
          <p:cNvSpPr/>
          <p:nvPr/>
        </p:nvSpPr>
        <p:spPr>
          <a:xfrm>
            <a:off x="640080" y="4885003"/>
            <a:ext cx="1106424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914400" y="4976443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评估指标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14400" y="5296483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准确率 (Accuracy)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14400" y="5525083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正确识别比例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657600" y="5296483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EER (等错误率)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657600" y="5525083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 = FRR 时的错误率，越低越好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400800" y="5296483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验证延迟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400800" y="5525083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单次声纹验证所需时间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9144000" y="5296483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模型大小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9144000" y="5525083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参数存储空间占用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05840" y="274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实验结果——用数据决定嵌入式方案</a:t>
            </a:r>
            <a:endParaRPr lang="en-US" sz="2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8201178"/>
              </p:ext>
            </p:extLst>
          </p:nvPr>
        </p:nvGraphicFramePr>
        <p:xfrm>
          <a:off x="548640" y="1005840"/>
          <a:ext cx="11155680" cy="1920240"/>
        </p:xfrm>
        <a:graphic>
          <a:graphicData uri="http://schemas.openxmlformats.org/drawingml/2006/table">
            <a:tbl>
              <a:tblPr/>
              <a:tblGrid>
                <a:gridCol w="1264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12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12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650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指标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MFCC + DTW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GMM + SVM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Deep Embedding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最佳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准确率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80.8%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96.3%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93.8%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GMM+SVM 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26.5%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5.3%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GMM+SVM 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验证时间(单次)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~280ms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~8ms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~65ms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GMM+SVM 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模型大小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~480KB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~25KB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~10KB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Deep Embedding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hape 2"/>
          <p:cNvSpPr/>
          <p:nvPr/>
        </p:nvSpPr>
        <p:spPr>
          <a:xfrm>
            <a:off x="548640" y="3212124"/>
            <a:ext cx="54864" cy="15544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Shape 3"/>
          <p:cNvSpPr/>
          <p:nvPr/>
        </p:nvSpPr>
        <p:spPr>
          <a:xfrm>
            <a:off x="640080" y="3212124"/>
            <a:ext cx="1106424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14400" y="325784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GMM+SVM PC上最优，但嵌入式部署接连碰壁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3577884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EM算法移植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920240" y="3577884"/>
            <a:ext cx="9418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GMM训练的迭代求解（E步/M步交替、收敛判断）在C中实现量极大，且sklearn有高度优化，C版本精度难保证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914400" y="3806484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UBM环境不匹配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920240" y="3806484"/>
            <a:ext cx="9418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UBM基于LibriSpeech（英语、录音室、16kHz标准），部署环境是USB麦克风（中文、环境噪声、44.1k→16k降采样链）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914400" y="4035084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MAP自适应失效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920240" y="4035084"/>
            <a:ext cx="9418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MAP需要充足数据做贝叶斯修正。3秒注册语音帧数太少，自适应后GMM几乎退化为UBM，无法区分说话人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914400" y="4263684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SVM负样本缺失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920240" y="4263684"/>
            <a:ext cx="9418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SVM训练需要冒名者语音作为负类。部署时无法预知哪些人是"冒名者"，训练的SVM没有判别意义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914400" y="4492284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无嵌入式GMM库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920240" y="4492284"/>
            <a:ext cx="9418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CMSIS-DSP有MFCC但没有GMM。LIBSVM虽支持SVM推理，但缺少GMM-UBM的完整C实现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48640" y="4949484"/>
            <a:ext cx="54864" cy="1188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Shape 16"/>
          <p:cNvSpPr/>
          <p:nvPr/>
        </p:nvSpPr>
        <p:spPr>
          <a:xfrm>
            <a:off x="640080" y="4949484"/>
            <a:ext cx="110642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914400" y="499520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最终决定：放弃GMM+SVM的嵌入式移植，两版并行实现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914400" y="5406684"/>
            <a:ext cx="5029200" cy="320040"/>
          </a:xfrm>
          <a:prstGeom prst="roundRect">
            <a:avLst>
              <a:gd name="adj" fmla="val 14286"/>
            </a:avLst>
          </a:prstGeom>
          <a:solidFill>
            <a:srgbClr val="0891B2">
              <a:alpha val="15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1097280" y="540668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 (DTW版)：MFCC + 余弦距离DTW，纯C零依赖，透明保底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400800" y="5772444"/>
            <a:ext cx="5029200" cy="320040"/>
          </a:xfrm>
          <a:prstGeom prst="roundRect">
            <a:avLst>
              <a:gd name="adj" fmla="val 14286"/>
            </a:avLst>
          </a:prstGeom>
          <a:solidFill>
            <a:srgbClr val="2563EB">
              <a:alpha val="1500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6583680" y="577244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 (CAM++版)：sherpa-onnx + CAM++神经网络嵌入，预训练模型更鲁棒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05840" y="274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方案一：MFCC + 余弦距离DTW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54864" cy="23774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005840"/>
            <a:ext cx="530352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4173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把语音切成20ms一帧 → 每帧提取13个MFCC系数 → DTW对齐两段语音的帧序列 → 余弦距离衡量相似度 → 阈值判决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77824" y="2286000"/>
            <a:ext cx="670560" cy="685800"/>
          </a:xfrm>
          <a:prstGeom prst="roundRect">
            <a:avLst>
              <a:gd name="adj" fmla="val 9412"/>
            </a:avLst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877824" y="2286000"/>
            <a:ext cx="67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USB Mic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44100Hz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554480" y="2286000"/>
            <a:ext cx="11833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→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691640" y="2286000"/>
            <a:ext cx="670560" cy="685800"/>
          </a:xfrm>
          <a:prstGeom prst="roundRect">
            <a:avLst>
              <a:gd name="adj" fmla="val 9412"/>
            </a:avLst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1691640" y="2286000"/>
            <a:ext cx="67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预加重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α=0.97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369820" y="2286000"/>
            <a:ext cx="11833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→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06980" y="2286000"/>
            <a:ext cx="670560" cy="685800"/>
          </a:xfrm>
          <a:prstGeom prst="roundRect">
            <a:avLst>
              <a:gd name="adj" fmla="val 9412"/>
            </a:avLst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2506980" y="2286000"/>
            <a:ext cx="67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MFCC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2048FFT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13维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187401" y="2286000"/>
            <a:ext cx="11833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→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24561" y="2286000"/>
            <a:ext cx="670560" cy="685800"/>
          </a:xfrm>
          <a:prstGeom prst="roundRect">
            <a:avLst>
              <a:gd name="adj" fmla="val 9412"/>
            </a:avLst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3324561" y="2286000"/>
            <a:ext cx="67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VAD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RMS&gt;0.01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008299" y="2286000"/>
            <a:ext cx="11833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→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45459" y="2286000"/>
            <a:ext cx="670560" cy="685800"/>
          </a:xfrm>
          <a:prstGeom prst="roundRect">
            <a:avLst>
              <a:gd name="adj" fmla="val 9412"/>
            </a:avLst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4145459" y="2286000"/>
            <a:ext cx="67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余弦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DTW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834845" y="2286000"/>
            <a:ext cx="11833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→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972005" y="2286000"/>
            <a:ext cx="670560" cy="685800"/>
          </a:xfrm>
          <a:prstGeom prst="roundRect">
            <a:avLst>
              <a:gd name="adj" fmla="val 9412"/>
            </a:avLst>
          </a:prstGeom>
          <a:solidFill>
            <a:srgbClr val="DC2626"/>
          </a:solidFill>
          <a:ln/>
        </p:spPr>
      </p:sp>
      <p:sp>
        <p:nvSpPr>
          <p:cNvPr id="24" name="Text 22"/>
          <p:cNvSpPr/>
          <p:nvPr/>
        </p:nvSpPr>
        <p:spPr>
          <a:xfrm>
            <a:off x="4972005" y="2286000"/>
            <a:ext cx="67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双阈值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判决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217920" y="1005840"/>
            <a:ext cx="54864" cy="4572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6" name="Shape 24"/>
          <p:cNvSpPr/>
          <p:nvPr/>
        </p:nvSpPr>
        <p:spPr>
          <a:xfrm>
            <a:off x="6309360" y="1005840"/>
            <a:ext cx="5394960" cy="4572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583680" y="1097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关键技术决策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6583680" y="15087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为什么用余弦距离不用欧氏距离？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583680" y="178308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欧氏距离由能量主导——同一个人大声和小声说话，欧氏距离很大但其实是同一人。余弦距离关注向量方向，对音量不敏感。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583680" y="28346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为什么不做CMVN归一化？</a:t>
            </a: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583680" y="310896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CMVN会将每段语音的MFCC均值拉平到零，这会抹掉说话人之间的差异。实验验证不做CMVN的余弦距离效果更好。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583680" y="41605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双阈值策略怎么工作？</a:t>
            </a: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583680" y="443484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DTW距离&lt;0.30 → 直接匹配。0.30~0.70之间 → 用MFCC均值余弦相似度辅助判决（&gt;0.7则匹配）。保证变声场景不被误拒。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48640" y="3749040"/>
            <a:ext cx="54864" cy="1828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5" name="Shape 33"/>
          <p:cNvSpPr/>
          <p:nvPr/>
        </p:nvSpPr>
        <p:spPr>
          <a:xfrm>
            <a:off x="640080" y="3749040"/>
            <a:ext cx="53035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914400" y="3840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MFCC特征——模拟人耳听觉特性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14400" y="42062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预加重→分帧→加汉明窗→FFT→Mel滤波器组(40个)→对数→DCT→13维系数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14400" y="457200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Mel尺度模仿了人耳"低频分辨力强、高频分辨力弱"的特性。DCT将Mel滤波器组的相关系数压缩到前13个，兼顾信息保留与维度控制。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14400" y="521208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参考：[1]苏学军等, 基于STM32的语音声纹识别系统设计, 2020; [2]王华朋等, MFCC提取方法研究, 2008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05840" y="274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方案一：v1 嵌入式实测数据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10972800" cy="2688336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测试场景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DTW距离 (d)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判决结果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阈值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可靠性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同人正常说话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0.15 ~ 0.28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匹配 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0.30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稳定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同人重复注册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0.18 ~ 0.25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匹配 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0.30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稳定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同人变声/怪叫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0.31 ~ 0.38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模糊 ⚠️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 0.30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需余弦辅助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不同人说话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0.40 ~ 0.65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拒绝 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 0.30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区分度好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静音/不说话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 0.80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拒绝 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VAD过滤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可靠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环境噪声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0.35 ~ 0.50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拒绝 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 0.30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有效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657600"/>
            <a:ext cx="54864" cy="10515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Shape 3"/>
          <p:cNvSpPr/>
          <p:nvPr/>
        </p:nvSpPr>
        <p:spPr>
          <a:xfrm>
            <a:off x="640080" y="3657600"/>
            <a:ext cx="1106424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Text 4"/>
          <p:cNvSpPr/>
          <p:nvPr/>
        </p:nvSpPr>
        <p:spPr>
          <a:xfrm>
            <a:off x="914400" y="3703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距离分数分布（值越小越匹配）：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914400" y="4069080"/>
            <a:ext cx="9601200" cy="3200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Shape 6"/>
          <p:cNvSpPr/>
          <p:nvPr/>
        </p:nvSpPr>
        <p:spPr>
          <a:xfrm>
            <a:off x="914400" y="4069080"/>
            <a:ext cx="2400300" cy="3200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0" name="Shape 7"/>
          <p:cNvSpPr/>
          <p:nvPr/>
        </p:nvSpPr>
        <p:spPr>
          <a:xfrm>
            <a:off x="3314700" y="4069080"/>
            <a:ext cx="96012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Shape 8"/>
          <p:cNvSpPr/>
          <p:nvPr/>
        </p:nvSpPr>
        <p:spPr>
          <a:xfrm>
            <a:off x="4274820" y="4069080"/>
            <a:ext cx="6240780" cy="32004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2" name="Shape 9"/>
          <p:cNvSpPr/>
          <p:nvPr/>
        </p:nvSpPr>
        <p:spPr>
          <a:xfrm>
            <a:off x="3314700" y="4069080"/>
            <a:ext cx="27432" cy="3200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440740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6A34A"/>
                </a:solidFill>
              </a:rPr>
              <a:t>0.00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3122676" y="440740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C2626"/>
                </a:solidFill>
              </a:rPr>
              <a:t>0.30 (阈值)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274820" y="440740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C2626"/>
                </a:solidFill>
              </a:rPr>
              <a:t>0.40+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548640" y="4846320"/>
            <a:ext cx="54864" cy="14630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7" name="Shape 14"/>
          <p:cNvSpPr/>
          <p:nvPr/>
        </p:nvSpPr>
        <p:spPr>
          <a:xfrm>
            <a:off x="640080" y="4846320"/>
            <a:ext cx="51206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914400" y="4892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优势</a:t>
            </a: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914400" y="52120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纯C实现，零外部依赖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算法完全透明可审计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推理延迟仅~200ms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583680" y="4846320"/>
            <a:ext cx="54864" cy="14630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1" name="Shape 18"/>
          <p:cNvSpPr/>
          <p:nvPr/>
        </p:nvSpPr>
        <p:spPr>
          <a:xfrm>
            <a:off x="6675120" y="4846320"/>
            <a:ext cx="50292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949440" y="4892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不足</a:t>
            </a: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6949440" y="52120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变声场景d=0.31~0.38处于模糊带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13维MFCC信息量有限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对噪声比神经网络敏感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05840" y="274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方案二：sherpa-onnx + CAM++ 神经网络嵌入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54864" cy="7315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005840"/>
            <a:ext cx="1106424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0972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用预训练神经网络把整段语音压缩成一个512维的"声纹指纹"向量，然后比较两个向量的余弦相似度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54864" cy="10972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011680"/>
            <a:ext cx="110642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2103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处理流程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2560320"/>
            <a:ext cx="1600200" cy="411480"/>
          </a:xfrm>
          <a:prstGeom prst="roundRect">
            <a:avLst>
              <a:gd name="adj" fmla="val 17778"/>
            </a:avLst>
          </a:prstGeom>
          <a:solidFill>
            <a:srgbClr val="1E3A5F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5603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PCM 44100Hz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423160" y="256032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697480" y="2560320"/>
            <a:ext cx="1600200" cy="411480"/>
          </a:xfrm>
          <a:prstGeom prst="roundRect">
            <a:avLst>
              <a:gd name="adj" fmla="val 17778"/>
            </a:avLst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2697480" y="25603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sherpa-onnx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297680" y="256032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0" y="2560320"/>
            <a:ext cx="1600200" cy="411480"/>
          </a:xfrm>
          <a:prstGeom prst="roundRect">
            <a:avLst>
              <a:gd name="adj" fmla="val 17778"/>
            </a:avLst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25603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CAM++ 网络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72200" y="256032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46520" y="2560320"/>
            <a:ext cx="1600200" cy="411480"/>
          </a:xfrm>
          <a:prstGeom prst="roundRect">
            <a:avLst>
              <a:gd name="adj" fmla="val 17778"/>
            </a:avLst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25603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512维嵌入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046720" y="256032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321040" y="2560320"/>
            <a:ext cx="1600200" cy="411480"/>
          </a:xfrm>
          <a:prstGeom prst="roundRect">
            <a:avLst>
              <a:gd name="adj" fmla="val 17778"/>
            </a:avLst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8321040" y="25603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余弦相似度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921240" y="256032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0195560" y="2560320"/>
            <a:ext cx="1600200" cy="411480"/>
          </a:xfrm>
          <a:prstGeom prst="roundRect">
            <a:avLst>
              <a:gd name="adj" fmla="val 17778"/>
            </a:avLst>
          </a:prstGeom>
          <a:solidFill>
            <a:srgbClr val="DC2626"/>
          </a:solidFill>
          <a:ln/>
        </p:spPr>
      </p:sp>
      <p:sp>
        <p:nvSpPr>
          <p:cNvPr id="26" name="Text 24"/>
          <p:cNvSpPr/>
          <p:nvPr/>
        </p:nvSpPr>
        <p:spPr>
          <a:xfrm>
            <a:off x="10195560" y="25603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≥0.55判决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8640" y="3383280"/>
            <a:ext cx="54864" cy="1645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8" name="Shape 26"/>
          <p:cNvSpPr/>
          <p:nvPr/>
        </p:nvSpPr>
        <p:spPr>
          <a:xfrm>
            <a:off x="640080" y="3383280"/>
            <a:ext cx="53035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14400" y="3474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为什么选 CAM++？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14400" y="38404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INTERSPEECH 2023 发表，说话人验证SOTA模型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引入上下文注意力机制（CAM）聚焦说话人判别性特征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AAM-Softmax损失函数：增大类间间距、缩小类内间距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512维嵌入远超13维MFCC的信息容量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217920" y="3383280"/>
            <a:ext cx="54864" cy="1645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2" name="Shape 30"/>
          <p:cNvSpPr/>
          <p:nvPr/>
        </p:nvSpPr>
        <p:spPr>
          <a:xfrm>
            <a:off x="6309360" y="3383280"/>
            <a:ext cx="53949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583680" y="3474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为什么选 sherpa-onnx？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583680" y="384048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11K stars 开源项目，生产级声纹识别管线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C API 直接调用，降采样+FBank+ONNX推理一站式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ARM64 预编译，RPi5上推理延迟~500ms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基于VoxCeleb+中文数据集的预训练模型，开箱即用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48640" y="5303520"/>
            <a:ext cx="54864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6" name="Shape 34"/>
          <p:cNvSpPr/>
          <p:nvPr/>
        </p:nvSpPr>
        <p:spPr>
          <a:xfrm>
            <a:off x="640080" y="5303520"/>
            <a:ext cx="110642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914400" y="5349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CAM++ 网络架构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14400" y="5715000"/>
            <a:ext cx="1463040" cy="4114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9" name="Text 37"/>
          <p:cNvSpPr/>
          <p:nvPr/>
        </p:nvSpPr>
        <p:spPr>
          <a:xfrm>
            <a:off x="914400" y="57150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FBank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80维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2377440" y="571500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→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2697480" y="5715000"/>
            <a:ext cx="1463040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2" name="Text 40"/>
          <p:cNvSpPr/>
          <p:nvPr/>
        </p:nvSpPr>
        <p:spPr>
          <a:xfrm>
            <a:off x="2697480" y="57150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Conv1D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80→512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160520" y="571500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→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480560" y="5715000"/>
            <a:ext cx="1463040" cy="411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5" name="Text 43"/>
          <p:cNvSpPr/>
          <p:nvPr/>
        </p:nvSpPr>
        <p:spPr>
          <a:xfrm>
            <a:off x="4480560" y="57150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SE-Res2Block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×3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943600" y="571500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→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263640" y="5715000"/>
            <a:ext cx="146304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8" name="Text 46"/>
          <p:cNvSpPr/>
          <p:nvPr/>
        </p:nvSpPr>
        <p:spPr>
          <a:xfrm>
            <a:off x="6263640" y="57150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统计池化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726680" y="571500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→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8046720" y="5715000"/>
            <a:ext cx="1463040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1" name="Text 49"/>
          <p:cNvSpPr/>
          <p:nvPr/>
        </p:nvSpPr>
        <p:spPr>
          <a:xfrm>
            <a:off x="8046720" y="57150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512→512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9509760" y="571500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→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9829800" y="5715000"/>
            <a:ext cx="1463040" cy="4114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4" name="Text 52"/>
          <p:cNvSpPr/>
          <p:nvPr/>
        </p:nvSpPr>
        <p:spPr>
          <a:xfrm>
            <a:off x="9829800" y="57150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AAM-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05840" y="274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方案二：v2 嵌入式实测数据</a:t>
            </a:r>
            <a:endParaRPr lang="en-US" sz="2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10972800" cy="2688336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测试场景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余弦相似度 (cos)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判决结果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阈值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可靠性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同人正常说话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0.80 ~ 0.95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匹配 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0.55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稳定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同人重复注册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0.78 ~ 0.92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匹配 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0.55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稳定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同人变声/怪叫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0.30 ~ 0.40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拒绝 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0.55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清晰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不同人说话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0.10 ~ 0.30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拒绝 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0.55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出色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静音/不说话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0.10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拒绝 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VAD+嵌入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可靠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环境噪声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0.15 ~ 0.35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拒绝 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0.55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抗噪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817620"/>
            <a:ext cx="54864" cy="9144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" name="Shape 3"/>
          <p:cNvSpPr/>
          <p:nvPr/>
        </p:nvSpPr>
        <p:spPr>
          <a:xfrm>
            <a:off x="640080" y="3817620"/>
            <a:ext cx="1106424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14400" y="38633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质的飞跃——变声场景对比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41833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v1 DTW：变声 d=0.31~0.38 → 模糊带，无法可靠判决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</a:rPr>
              <a:t>v2 CAM++：变声 cos=0.30~0.40 → 清晰拒绝，远低于0.55阈值</a:t>
            </a:r>
            <a:endParaRPr lang="en-US" sz="1200" dirty="0"/>
          </a:p>
        </p:txBody>
      </p:sp>
      <p:sp>
        <p:nvSpPr>
          <p:cNvPr id="4" name="Shape 6"/>
          <p:cNvSpPr/>
          <p:nvPr/>
        </p:nvSpPr>
        <p:spPr>
          <a:xfrm>
            <a:off x="548640" y="4846320"/>
            <a:ext cx="54864" cy="14630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0" name="Shape 7"/>
          <p:cNvSpPr/>
          <p:nvPr/>
        </p:nvSpPr>
        <p:spPr>
          <a:xfrm>
            <a:off x="640080" y="4846320"/>
            <a:ext cx="53035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914400" y="4892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核心优势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14400" y="521208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512维嵌入 vs 13维MFCC，信息量40倍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变声场景从"模糊"到"清晰拒绝"的质变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神经网络自动学习抗噪特征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不同人说话cos=0.10~0.30，区分度出色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217920" y="4846320"/>
            <a:ext cx="54864" cy="14630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Shape 11"/>
          <p:cNvSpPr/>
          <p:nvPr/>
        </p:nvSpPr>
        <p:spPr>
          <a:xfrm>
            <a:off x="6309360" y="4846320"/>
            <a:ext cx="539496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583680" y="4892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余弦相似度分布示意（值越大越匹配）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583680" y="5303520"/>
            <a:ext cx="4572000" cy="32004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7" name="Shape 14"/>
          <p:cNvSpPr/>
          <p:nvPr/>
        </p:nvSpPr>
        <p:spPr>
          <a:xfrm>
            <a:off x="9098280" y="5303520"/>
            <a:ext cx="27432" cy="3200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8" name="Shape 15"/>
          <p:cNvSpPr/>
          <p:nvPr/>
        </p:nvSpPr>
        <p:spPr>
          <a:xfrm>
            <a:off x="9098280" y="5303520"/>
            <a:ext cx="2057400" cy="32004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9" name="Text 16"/>
          <p:cNvSpPr/>
          <p:nvPr/>
        </p:nvSpPr>
        <p:spPr>
          <a:xfrm>
            <a:off x="6583680" y="564184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</a:rPr>
              <a:t>变声/噪声/不同人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8961120" y="564184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</a:rPr>
              <a:t>0.55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9784080" y="564184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A34A"/>
                </a:solidFill>
              </a:rPr>
              <a:t>同人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05840" y="274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系统架构——从算法到产品的工程闭环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371600" cy="7772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5156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交互层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011680" y="1051560"/>
            <a:ext cx="96012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0" y="105156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彩色终端UI · 录音进度条 · 分数可视化 · 开锁倒计时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1371600" cy="7772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0116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业务层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011680" y="2011680"/>
            <a:ext cx="96012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286000" y="201168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声纹注册 · 声纹验证 · 用户管理 · 阈值判决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48640" y="2971800"/>
            <a:ext cx="1371600" cy="7772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97180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算法层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011680" y="2971800"/>
            <a:ext cx="96012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286000" y="297180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MFCC提取(v1) / CAM++ ONNX推理(v2) · 余弦相似度/DTW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1371600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93192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驱动层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2011680" y="3931920"/>
            <a:ext cx="96012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86000" y="393192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ALSA音频采集 · SQLite存储 · UART TTS驱动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48640" y="4892040"/>
            <a:ext cx="1371600" cy="777240"/>
          </a:xfrm>
          <a:prstGeom prst="rect">
            <a:avLst/>
          </a:prstGeom>
          <a:solidFill>
            <a:srgbClr val="4B5563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8920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硬件层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2011680" y="4892040"/>
            <a:ext cx="96012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286000" y="489204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树莓派5 · USB麦克风(PCM2902) · TTS模块 · SD卡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548640" y="5806440"/>
            <a:ext cx="54864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" y="5806440"/>
            <a:ext cx="1106424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14400" y="5943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项目结构  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2011680" y="594360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embed/       v2 (sherpa-onnx) — main.c + CAM++ 嵌入 + SQLite    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embed_v1/    v1 (MFCC+DTW) — main.c + </a:t>
            </a:r>
            <a:r>
              <a:rPr lang="en-US" sz="1400" dirty="0" err="1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余弦DTW</a:t>
            </a: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</a:p>
          <a:p>
            <a:pPr marL="0" indent="0">
              <a:buNone/>
            </a:pPr>
            <a:r>
              <a:rPr lang="en-US" sz="1400" dirty="0" err="1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tts</a:t>
            </a: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        SNR9816TTS驱动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05840" y="274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TTS 语音播报模块——嵌入式项目不能只有屏幕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54864" cy="18288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005840"/>
            <a:ext cx="53035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097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SNR9816TTS 模块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14400" y="14630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通信接口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03120" y="1463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UART, 115200 8N1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71907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编码方式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03120" y="17190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UTF-8 直传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97510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控制命令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03120" y="197510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[m0~9]音色 [v0~9]音量 [s0~9]语速 [t0~9]语调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223113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设备路径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03120" y="223113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/dev/ttyUSB0 (USB-TTL适配器)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248716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默认配置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03120" y="2487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女声[m0] 音量2 语速4 语调6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1005840"/>
            <a:ext cx="54864" cy="1828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Shape 16"/>
          <p:cNvSpPr/>
          <p:nvPr/>
        </p:nvSpPr>
        <p:spPr>
          <a:xfrm>
            <a:off x="6309360" y="1005840"/>
            <a:ext cx="53949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83680" y="1097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驱动设计要点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583680" y="146304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80ms 状态查询超时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200ms ACK等待——收发确认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800ms 忙碌上限——不拖慢主程序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操作前tcflush——防止串口残留数据干扰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静默失败——模块离线时程序正常运行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栈分配帧缓冲——512B无malloc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3108960"/>
            <a:ext cx="54864" cy="33756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Shape 20"/>
          <p:cNvSpPr/>
          <p:nvPr/>
        </p:nvSpPr>
        <p:spPr>
          <a:xfrm>
            <a:off x="640080" y="3108960"/>
            <a:ext cx="11064240" cy="33756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14400" y="3200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语音播报全流程覆盖</a:t>
            </a:r>
            <a:endParaRPr lang="en-US" sz="13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4295399"/>
              </p:ext>
            </p:extLst>
          </p:nvPr>
        </p:nvGraphicFramePr>
        <p:xfrm>
          <a:off x="731520" y="3566161"/>
          <a:ext cx="10515600" cy="268224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11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触发事件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播报内容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触发位置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1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程序启动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"系统启动，声纹锁就绪"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main() 初始化完成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11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注册开始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"请说出你要注册的语音"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do_enroll() wait_enter前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1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注册成功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"注册成功"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数据库写入成功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11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注册失败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"注册失败，请重试"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各失败出口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11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验证开始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"请说出你的语音口令"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do_verify() wait_enter前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11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验证通过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"验证通过"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与模板匹配成功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11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验证失败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"验证失败，请重试"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不匹配处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11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开锁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"五、四、三、二、一"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countdown循环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11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锁定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"已锁定"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倒计时结束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11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退出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"系统关闭"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main() 退出前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05840" y="274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两版方案总对比</a:t>
            </a:r>
            <a:endParaRPr lang="en-US" sz="2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10515600" cy="4608576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对比维度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v1: MFCC + 余弦DTW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v2: sherpa-onnx + CAM++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特征维度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 维 MFCC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512 维神经网络嵌入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匹配方式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帧序列DTW时序对齐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向量空间余弦距离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同人正常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d=0.15~0.28  匹配 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cos=0.80~0.95  匹配 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同人变声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d=0.31~0.38  模糊带 ⚠️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cos=0.30~0.40  清晰拒绝 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不同人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d=0.40~0.65  正确拒绝 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cos=0.10~0.30  正确拒绝 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环境噪声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d=0.35~0.50  较敏感 ⚠️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cos=0.15~0.35  自动抗噪 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推理延迟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~200ms 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~500ms ⚠️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外部依赖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零依赖，纯C 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sherpa-onnx + 27MB模型 ⚠️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可解释性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完全白盒，可审计 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神经网络黑盒 ⚠️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代码量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手写~2000行C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~800行 + API调用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论文引用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MFCC标准[1][2] + DTW经典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CAM++ INTERSPEECH 2023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669280"/>
            <a:ext cx="54864" cy="7315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Shape 3"/>
          <p:cNvSpPr/>
          <p:nvPr/>
        </p:nvSpPr>
        <p:spPr>
          <a:xfrm>
            <a:off x="640080" y="5669280"/>
            <a:ext cx="1042416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14400" y="5760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结论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508760" y="580644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 (CAM++嵌入) 在鲁棒性上全面优于 v1 (DTW)，尤其变声和噪声场景有质的提升。v1 的价值在于零依赖、全透明，适合资源受限或需要算法审计的场景。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  结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7160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实现了完整的离线声纹锁系统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7830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ARM嵌入式Linux平台，音频采集→特征提取→模板匹配→语音播报全流程闭环。两条技术路线并行，同一硬件平台上给出定量对比数据。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606040"/>
            <a:ext cx="1051560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71600" y="2926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验证了深度嵌入方法的优越性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33375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CAM++神经网络嵌入 (512维) 在变声、噪声场景下显著优于传统 MFCC+DTW (13维)。变声场景从"模糊带"到"清晰拒绝"，体现了深度学习在声纹特征表达上的本质优势。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51560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4805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71600" y="4480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完整的工程实践链路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48920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从算法调研（三条路线）→ PC原型对比（定量数据驱动决策）→ 集成ALSA驱动、SQLite、SNR9816TTS语音播报，体现了嵌入式系统的工程完整性。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5760720"/>
            <a:ext cx="1051560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后续工作：活体检测（防录音重放）   |   模型量化（延迟500ms→&lt;200ms）   |   低功耗平台移植（ESP32-S3）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114800"/>
            <a:ext cx="4572000" cy="457200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&amp; A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感谢聆听，欢迎提问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5486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参考文献：[1] 苏学军等, 电子测量技术, 2020  [2] 王华朋等, 公安大学学报, 2008  [3] CAM++, INTERSPEECH 2023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1504</Words>
  <Application>Microsoft Office PowerPoint</Application>
  <PresentationFormat>宽屏</PresentationFormat>
  <Paragraphs>428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基于ARM嵌入式的离线声纹识别系统</dc:title>
  <dc:subject>PptxGenJS Presentation</dc:subject>
  <dc:creator>Voiceprint Lock</dc:creator>
  <cp:lastModifiedBy>Hengwei Zhang</cp:lastModifiedBy>
  <cp:revision>2</cp:revision>
  <dcterms:created xsi:type="dcterms:W3CDTF">2026-06-21T16:53:29Z</dcterms:created>
  <dcterms:modified xsi:type="dcterms:W3CDTF">2026-06-21T17:07:26Z</dcterms:modified>
</cp:coreProperties>
</file>